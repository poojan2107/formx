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C8CC-BB46-B3E6-831E-AA3E30D60D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F2D9A8-8ACD-11ED-61AA-E9F413BA54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3E6DCC-B756-F9BB-AF71-23F6651E155B}"/>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5" name="Footer Placeholder 4">
            <a:extLst>
              <a:ext uri="{FF2B5EF4-FFF2-40B4-BE49-F238E27FC236}">
                <a16:creationId xmlns:a16="http://schemas.microsoft.com/office/drawing/2014/main" id="{E81CACD6-F2A9-27E4-D7E2-188FDD697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F8DECD-3C58-8317-FA96-069F4F82B569}"/>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830166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F359-B3BE-D5B0-E31A-67E1F1B865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EC74C0-B0F8-DF88-B6E6-967DEE7D5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DEFD02-F054-654F-2AC7-2DBECD6D5701}"/>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5" name="Footer Placeholder 4">
            <a:extLst>
              <a:ext uri="{FF2B5EF4-FFF2-40B4-BE49-F238E27FC236}">
                <a16:creationId xmlns:a16="http://schemas.microsoft.com/office/drawing/2014/main" id="{53199E87-28B7-5668-4D77-1CEC40DE3B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5622C1-0FDD-4DBB-2A4C-576AB1833519}"/>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766567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5800A-509D-668E-D911-B906DBCCDA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DF3A0A-494A-539A-002D-FC5264FCD6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68823B-0C8F-FAC6-71CC-2B5CD6C82326}"/>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5" name="Footer Placeholder 4">
            <a:extLst>
              <a:ext uri="{FF2B5EF4-FFF2-40B4-BE49-F238E27FC236}">
                <a16:creationId xmlns:a16="http://schemas.microsoft.com/office/drawing/2014/main" id="{2B9CE25C-5D61-EB45-1277-5693333928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0833D7-A70A-3269-140B-AD6BCB30B1E2}"/>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178266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4CD53-1C2D-B643-8392-32D23208F7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C9BFF1-78B2-0A5F-3924-03031647F3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B72A46B-C3F7-C0D6-C5DC-D9B5B2523A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190F09-F75C-4DB7-B6D0-A6C40674A7EA}"/>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6" name="Footer Placeholder 5">
            <a:extLst>
              <a:ext uri="{FF2B5EF4-FFF2-40B4-BE49-F238E27FC236}">
                <a16:creationId xmlns:a16="http://schemas.microsoft.com/office/drawing/2014/main" id="{7F01AD65-F44B-7946-ECB8-CD18397836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E37BE1-2B1F-AD64-7548-D61C7B03C5EF}"/>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3860559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EC4A4-3CB6-D94D-37CC-F1143670C9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4EB134-4551-F913-8449-4F138E62FD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92D8B5-6436-99E0-D80E-3C6EE5B35C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A1082-EBA6-97BC-251E-0511E09AD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BC89BA-2F01-ABF6-4760-EC042DD19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15F05F-C84E-6F2C-1D6E-1680EC32E0C2}"/>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8" name="Footer Placeholder 7">
            <a:extLst>
              <a:ext uri="{FF2B5EF4-FFF2-40B4-BE49-F238E27FC236}">
                <a16:creationId xmlns:a16="http://schemas.microsoft.com/office/drawing/2014/main" id="{0E3A881C-2E16-C32F-5CB7-2E751D6DD8C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B8FF28-81EC-46E6-44EB-F4419C16BA59}"/>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3467469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328B-0D8D-FDD6-491F-CA18E8FA88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94F82B-42D6-AB48-F617-079F5F5960AF}"/>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4" name="Footer Placeholder 3">
            <a:extLst>
              <a:ext uri="{FF2B5EF4-FFF2-40B4-BE49-F238E27FC236}">
                <a16:creationId xmlns:a16="http://schemas.microsoft.com/office/drawing/2014/main" id="{0B882FC8-F8DA-9FDA-94F3-7C4E8EED46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9E7F6C-F429-F72F-6C33-AB0D6B0612AB}"/>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3806702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FF46EE-6565-BB01-2B75-B237325FD805}"/>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3" name="Footer Placeholder 2">
            <a:extLst>
              <a:ext uri="{FF2B5EF4-FFF2-40B4-BE49-F238E27FC236}">
                <a16:creationId xmlns:a16="http://schemas.microsoft.com/office/drawing/2014/main" id="{D72F62E0-9806-9223-22A4-B0ADD962AE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3C4CFC-EF63-2613-21F0-D14414560A0F}"/>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826128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61D8-CB90-4299-1141-A6A997AA4B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CF4657-FB6B-326D-0D2D-63B53BCDA6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3ADF6D-BB8B-76F9-CCE6-52D4A4CDF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59AAC6-A7EE-00E1-FFD9-92EEAF768FAD}"/>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6" name="Footer Placeholder 5">
            <a:extLst>
              <a:ext uri="{FF2B5EF4-FFF2-40B4-BE49-F238E27FC236}">
                <a16:creationId xmlns:a16="http://schemas.microsoft.com/office/drawing/2014/main" id="{9AAA6AF2-05EB-D677-85F2-E98589B782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C1FD31-D15B-60FA-1F67-8C1F33DCA56E}"/>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42724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D2C4-1ADA-791A-DEF8-EB14A70E2C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05EF9B-1EEE-DC8C-4550-D18E8E9A8D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30B990-92DB-8040-23B0-3B633E554C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8795D9-E94F-B130-3191-1B685F226E6D}"/>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6" name="Footer Placeholder 5">
            <a:extLst>
              <a:ext uri="{FF2B5EF4-FFF2-40B4-BE49-F238E27FC236}">
                <a16:creationId xmlns:a16="http://schemas.microsoft.com/office/drawing/2014/main" id="{E4DEBF18-4AD6-5E37-1FD5-39C8C07787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F716A0-BF99-59F4-55DE-62438202FF73}"/>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303845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0B2F-168B-C28E-FC83-2C96C8A2BB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B4A844-40A2-DDA6-9FFB-3F5C569520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1F7C17-7440-6824-B2FB-75C676D49ADF}"/>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5" name="Footer Placeholder 4">
            <a:extLst>
              <a:ext uri="{FF2B5EF4-FFF2-40B4-BE49-F238E27FC236}">
                <a16:creationId xmlns:a16="http://schemas.microsoft.com/office/drawing/2014/main" id="{C66A298D-C8DD-842F-8821-4890CF9FF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36A800-169F-0038-99BE-E554865370CE}"/>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1570971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55D0A9-85AE-F087-8BA8-C02C634DC9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6E8386-A5AB-D6CC-5933-7DFE6240D3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BDAED2-6814-F9CF-208F-F4E38C852B63}"/>
              </a:ext>
            </a:extLst>
          </p:cNvPr>
          <p:cNvSpPr>
            <a:spLocks noGrp="1"/>
          </p:cNvSpPr>
          <p:nvPr>
            <p:ph type="dt" sz="half" idx="10"/>
          </p:nvPr>
        </p:nvSpPr>
        <p:spPr/>
        <p:txBody>
          <a:bodyPr/>
          <a:lstStyle/>
          <a:p>
            <a:fld id="{AB409502-13D1-45E9-B490-EBB5D40CE8A5}" type="datetimeFigureOut">
              <a:rPr lang="en-IN" smtClean="0"/>
              <a:t>08-08-2026</a:t>
            </a:fld>
            <a:endParaRPr lang="en-IN"/>
          </a:p>
        </p:txBody>
      </p:sp>
      <p:sp>
        <p:nvSpPr>
          <p:cNvPr id="5" name="Footer Placeholder 4">
            <a:extLst>
              <a:ext uri="{FF2B5EF4-FFF2-40B4-BE49-F238E27FC236}">
                <a16:creationId xmlns:a16="http://schemas.microsoft.com/office/drawing/2014/main" id="{0442BD27-FBBE-12D5-4665-EF505EBE4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573A93-4F98-4707-C645-A2D80B3B3442}"/>
              </a:ext>
            </a:extLst>
          </p:cNvPr>
          <p:cNvSpPr>
            <a:spLocks noGrp="1"/>
          </p:cNvSpPr>
          <p:nvPr>
            <p:ph type="sldNum" sz="quarter" idx="12"/>
          </p:nvPr>
        </p:nvSpPr>
        <p:spPr/>
        <p:txBody>
          <a:bodyPr/>
          <a:lstStyle/>
          <a:p>
            <a:fld id="{6F948353-6242-4175-845F-C15C41F9A0E5}" type="slidenum">
              <a:rPr lang="en-IN" smtClean="0"/>
              <a:t>‹#›</a:t>
            </a:fld>
            <a:endParaRPr lang="en-IN"/>
          </a:p>
        </p:txBody>
      </p:sp>
    </p:spTree>
    <p:extLst>
      <p:ext uri="{BB962C8B-B14F-4D97-AF65-F5344CB8AC3E}">
        <p14:creationId xmlns:p14="http://schemas.microsoft.com/office/powerpoint/2010/main" val="171121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3FD6CF-9334-CA5B-EC4B-54BC2181D9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6CD579-DB85-4B0D-2DD7-8DF9F0F17C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A48628-CD6F-764F-D42C-A53B351CF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409502-13D1-45E9-B490-EBB5D40CE8A5}" type="datetimeFigureOut">
              <a:rPr lang="en-IN" smtClean="0"/>
              <a:t>08-08-2026</a:t>
            </a:fld>
            <a:endParaRPr lang="en-IN"/>
          </a:p>
        </p:txBody>
      </p:sp>
      <p:sp>
        <p:nvSpPr>
          <p:cNvPr id="5" name="Footer Placeholder 4">
            <a:extLst>
              <a:ext uri="{FF2B5EF4-FFF2-40B4-BE49-F238E27FC236}">
                <a16:creationId xmlns:a16="http://schemas.microsoft.com/office/drawing/2014/main" id="{8229E7C2-704D-6B5E-04BD-A4E0314D9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90DFF5F-1039-027F-7634-0F5F8EDA84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948353-6242-4175-845F-C15C41F9A0E5}" type="slidenum">
              <a:rPr lang="en-IN" smtClean="0"/>
              <a:t>‹#›</a:t>
            </a:fld>
            <a:endParaRPr lang="en-IN"/>
          </a:p>
        </p:txBody>
      </p:sp>
    </p:spTree>
    <p:extLst>
      <p:ext uri="{BB962C8B-B14F-4D97-AF65-F5344CB8AC3E}">
        <p14:creationId xmlns:p14="http://schemas.microsoft.com/office/powerpoint/2010/main" val="1447674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1">
            <a:extLst>
              <a:ext uri="{FF2B5EF4-FFF2-40B4-BE49-F238E27FC236}">
                <a16:creationId xmlns:a16="http://schemas.microsoft.com/office/drawing/2014/main" id="{804C7213-370F-69AE-8574-9BE24270F608}"/>
              </a:ext>
            </a:extLst>
          </p:cNvPr>
          <p:cNvSpPr/>
          <p:nvPr/>
        </p:nvSpPr>
        <p:spPr>
          <a:xfrm>
            <a:off x="6729706" y="3080393"/>
            <a:ext cx="5936933" cy="463272"/>
          </a:xfrm>
          <a:prstGeom prst="rect">
            <a:avLst/>
          </a:prstGeom>
          <a:noFill/>
          <a:ln/>
        </p:spPr>
        <p:txBody>
          <a:bodyPr wrap="none" lIns="0" tIns="0" rIns="0" bIns="0" rtlCol="0" anchor="t"/>
          <a:lstStyle/>
          <a:p>
            <a:pPr marL="0" indent="0" algn="l">
              <a:lnSpc>
                <a:spcPts val="3600"/>
              </a:lnSpc>
              <a:buNone/>
            </a:pPr>
            <a:r>
              <a:rPr lang="en-US" sz="2400" b="1" dirty="0">
                <a:solidFill>
                  <a:srgbClr val="1F1E1E"/>
                </a:solidFill>
                <a:latin typeface="Montserrat" pitchFamily="2" charset="0"/>
                <a:ea typeface="Sora Semi Bold" pitchFamily="34" charset="-122"/>
                <a:cs typeface="Sora SemiBold" pitchFamily="2" charset="0"/>
              </a:rPr>
              <a:t>WHERE VISION TAKES FORM</a:t>
            </a:r>
            <a:endParaRPr lang="en-US" sz="2400" b="1" dirty="0">
              <a:latin typeface="Montserrat" pitchFamily="2" charset="0"/>
              <a:cs typeface="Sora SemiBold" pitchFamily="2" charset="0"/>
            </a:endParaRPr>
          </a:p>
        </p:txBody>
      </p:sp>
      <p:pic>
        <p:nvPicPr>
          <p:cNvPr id="10" name="Picture 9">
            <a:extLst>
              <a:ext uri="{FF2B5EF4-FFF2-40B4-BE49-F238E27FC236}">
                <a16:creationId xmlns:a16="http://schemas.microsoft.com/office/drawing/2014/main" id="{76CD4E23-9854-BD79-7777-AA58668972CC}"/>
              </a:ext>
            </a:extLst>
          </p:cNvPr>
          <p:cNvPicPr>
            <a:picLocks noChangeAspect="1"/>
          </p:cNvPicPr>
          <p:nvPr/>
        </p:nvPicPr>
        <p:blipFill>
          <a:blip r:embed="rId2"/>
          <a:srcRect l="7443" t="27635" r="8668" b="30199"/>
          <a:stretch>
            <a:fillRect/>
          </a:stretch>
        </p:blipFill>
        <p:spPr>
          <a:xfrm>
            <a:off x="606800" y="2208736"/>
            <a:ext cx="4855495" cy="2440528"/>
          </a:xfrm>
          <a:prstGeom prst="rect">
            <a:avLst/>
          </a:prstGeom>
        </p:spPr>
      </p:pic>
      <p:cxnSp>
        <p:nvCxnSpPr>
          <p:cNvPr id="12" name="Straight Connector 11">
            <a:extLst>
              <a:ext uri="{FF2B5EF4-FFF2-40B4-BE49-F238E27FC236}">
                <a16:creationId xmlns:a16="http://schemas.microsoft.com/office/drawing/2014/main" id="{13BDEB37-AB71-58B4-0895-0A4D88BBBE25}"/>
              </a:ext>
            </a:extLst>
          </p:cNvPr>
          <p:cNvCxnSpPr>
            <a:cxnSpLocks/>
          </p:cNvCxnSpPr>
          <p:nvPr/>
        </p:nvCxnSpPr>
        <p:spPr>
          <a:xfrm>
            <a:off x="6056671" y="1758532"/>
            <a:ext cx="0" cy="2943320"/>
          </a:xfrm>
          <a:prstGeom prst="line">
            <a:avLst/>
          </a:prstGeom>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3F6E4AB5-6929-F30E-91DD-11F4E09448F3}"/>
              </a:ext>
            </a:extLst>
          </p:cNvPr>
          <p:cNvSpPr txBox="1"/>
          <p:nvPr/>
        </p:nvSpPr>
        <p:spPr>
          <a:xfrm>
            <a:off x="3421623" y="6088720"/>
            <a:ext cx="5653551" cy="400110"/>
          </a:xfrm>
          <a:prstGeom prst="rect">
            <a:avLst/>
          </a:prstGeom>
          <a:noFill/>
        </p:spPr>
        <p:txBody>
          <a:bodyPr wrap="square" rtlCol="0">
            <a:spAutoFit/>
          </a:bodyPr>
          <a:lstStyle/>
          <a:p>
            <a:r>
              <a:rPr lang="en-IN" sz="2000" b="1" dirty="0">
                <a:solidFill>
                  <a:srgbClr val="C00000"/>
                </a:solidFill>
              </a:rPr>
              <a:t>WEBSITE TAKING FORM. LAUNCHING SOON.</a:t>
            </a:r>
          </a:p>
        </p:txBody>
      </p:sp>
      <p:sp>
        <p:nvSpPr>
          <p:cNvPr id="4" name="TextBox 3">
            <a:extLst>
              <a:ext uri="{FF2B5EF4-FFF2-40B4-BE49-F238E27FC236}">
                <a16:creationId xmlns:a16="http://schemas.microsoft.com/office/drawing/2014/main" id="{763FEC66-4544-F83E-3CDB-16AA940CD620}"/>
              </a:ext>
            </a:extLst>
          </p:cNvPr>
          <p:cNvSpPr txBox="1"/>
          <p:nvPr/>
        </p:nvSpPr>
        <p:spPr>
          <a:xfrm>
            <a:off x="8121445" y="267615"/>
            <a:ext cx="3814917" cy="369332"/>
          </a:xfrm>
          <a:prstGeom prst="rect">
            <a:avLst/>
          </a:prstGeom>
          <a:noFill/>
        </p:spPr>
        <p:txBody>
          <a:bodyPr wrap="square" rtlCol="0">
            <a:spAutoFit/>
          </a:bodyPr>
          <a:lstStyle/>
          <a:p>
            <a:r>
              <a:rPr lang="en-US" b="1" dirty="0">
                <a:latin typeface="Montserrat" pitchFamily="2" charset="0"/>
              </a:rPr>
              <a:t>ALL FONT - MONTSERRAT</a:t>
            </a:r>
            <a:endParaRPr lang="en-IN" b="1" dirty="0">
              <a:latin typeface="Montserrat" pitchFamily="2" charset="0"/>
            </a:endParaRPr>
          </a:p>
        </p:txBody>
      </p:sp>
    </p:spTree>
    <p:extLst>
      <p:ext uri="{BB962C8B-B14F-4D97-AF65-F5344CB8AC3E}">
        <p14:creationId xmlns:p14="http://schemas.microsoft.com/office/powerpoint/2010/main" val="279004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2">
            <a:extLst>
              <a:ext uri="{FF2B5EF4-FFF2-40B4-BE49-F238E27FC236}">
                <a16:creationId xmlns:a16="http://schemas.microsoft.com/office/drawing/2014/main" id="{0DC39AA6-1744-DCDE-31F4-BD3AA7481880}"/>
              </a:ext>
            </a:extLst>
          </p:cNvPr>
          <p:cNvSpPr/>
          <p:nvPr/>
        </p:nvSpPr>
        <p:spPr>
          <a:xfrm>
            <a:off x="298710" y="1702361"/>
            <a:ext cx="4959737" cy="3459574"/>
          </a:xfrm>
          <a:prstGeom prst="rect">
            <a:avLst/>
          </a:prstGeom>
          <a:noFill/>
          <a:ln/>
        </p:spPr>
        <p:txBody>
          <a:bodyPr wrap="square" lIns="0" tIns="0" rIns="0" bIns="0" rtlCol="0" anchor="t"/>
          <a:lstStyle/>
          <a:p>
            <a:pPr marL="0" indent="0">
              <a:lnSpc>
                <a:spcPts val="2200"/>
              </a:lnSpc>
              <a:buNone/>
            </a:pPr>
            <a:r>
              <a:rPr lang="en-US" dirty="0">
                <a:latin typeface="Montserrat" pitchFamily="2" charset="0"/>
                <a:ea typeface="Sora Light" pitchFamily="34" charset="-122"/>
                <a:cs typeface="Sora Light" pitchFamily="34" charset="-120"/>
              </a:rPr>
              <a:t>A dynamic team of enthusiastic structural engineers and designers, dedicated to crafting spaces that are not only robust and functional but also inspire creativity and innovation. We seamlessly merge technical proficiency with practical wisdom to create structures that prioritize safety, efficiency, and alignment with architectural vision and user requirements.</a:t>
            </a:r>
            <a:endParaRPr lang="en-US" dirty="0">
              <a:latin typeface="Montserrat" pitchFamily="2" charset="0"/>
            </a:endParaRPr>
          </a:p>
        </p:txBody>
      </p:sp>
      <p:grpSp>
        <p:nvGrpSpPr>
          <p:cNvPr id="13" name="Group 12">
            <a:extLst>
              <a:ext uri="{FF2B5EF4-FFF2-40B4-BE49-F238E27FC236}">
                <a16:creationId xmlns:a16="http://schemas.microsoft.com/office/drawing/2014/main" id="{01866CFA-9FD6-7CB6-8522-238BA77A7746}"/>
              </a:ext>
            </a:extLst>
          </p:cNvPr>
          <p:cNvGrpSpPr/>
          <p:nvPr/>
        </p:nvGrpSpPr>
        <p:grpSpPr>
          <a:xfrm>
            <a:off x="5673215" y="1702361"/>
            <a:ext cx="6101389" cy="3144943"/>
            <a:chOff x="6198066" y="4114800"/>
            <a:chExt cx="7887205" cy="3923141"/>
          </a:xfrm>
        </p:grpSpPr>
        <p:pic>
          <p:nvPicPr>
            <p:cNvPr id="14" name="Image 2" descr="preencoded.png">
              <a:extLst>
                <a:ext uri="{FF2B5EF4-FFF2-40B4-BE49-F238E27FC236}">
                  <a16:creationId xmlns:a16="http://schemas.microsoft.com/office/drawing/2014/main" id="{BFE5CCB4-BE8C-02A5-EED0-0398B7D34137}"/>
                </a:ext>
              </a:extLst>
            </p:cNvPr>
            <p:cNvPicPr>
              <a:picLocks noChangeAspect="1"/>
            </p:cNvPicPr>
            <p:nvPr/>
          </p:nvPicPr>
          <p:blipFill>
            <a:blip r:embed="rId2"/>
            <a:stretch>
              <a:fillRect/>
            </a:stretch>
          </p:blipFill>
          <p:spPr>
            <a:xfrm>
              <a:off x="6198066" y="4114800"/>
              <a:ext cx="7819602" cy="3923141"/>
            </a:xfrm>
            <a:prstGeom prst="rect">
              <a:avLst/>
            </a:prstGeom>
          </p:spPr>
        </p:pic>
        <p:sp>
          <p:nvSpPr>
            <p:cNvPr id="15" name="Text 3">
              <a:extLst>
                <a:ext uri="{FF2B5EF4-FFF2-40B4-BE49-F238E27FC236}">
                  <a16:creationId xmlns:a16="http://schemas.microsoft.com/office/drawing/2014/main" id="{2F1C5028-D0A0-C758-1E2E-7EDFF5CEE039}"/>
                </a:ext>
              </a:extLst>
            </p:cNvPr>
            <p:cNvSpPr/>
            <p:nvPr/>
          </p:nvSpPr>
          <p:spPr>
            <a:xfrm>
              <a:off x="6412348" y="4607329"/>
              <a:ext cx="1624080" cy="398032"/>
            </a:xfrm>
            <a:prstGeom prst="rect">
              <a:avLst/>
            </a:prstGeom>
            <a:noFill/>
            <a:ln/>
          </p:spPr>
          <p:txBody>
            <a:bodyPr wrap="square" lIns="0" tIns="0" rIns="0" bIns="0" rtlCol="0" anchor="t"/>
            <a:lstStyle/>
            <a:p>
              <a:pPr marL="0" indent="0" algn="ctr">
                <a:buNone/>
              </a:pPr>
              <a:r>
                <a:rPr lang="en-US" sz="1400" b="1" dirty="0">
                  <a:solidFill>
                    <a:srgbClr val="1F1E1E"/>
                  </a:solidFill>
                  <a:latin typeface="Montserrat" pitchFamily="2" charset="0"/>
                  <a:ea typeface="Sora Semi Bold" pitchFamily="34" charset="-122"/>
                  <a:cs typeface="Sora SemiBold" pitchFamily="2" charset="0"/>
                </a:rPr>
                <a:t>Structural Integrity</a:t>
              </a:r>
              <a:endParaRPr lang="en-US" sz="1400" b="1" dirty="0">
                <a:latin typeface="Montserrat" pitchFamily="2" charset="0"/>
                <a:cs typeface="Sora SemiBold" pitchFamily="2" charset="0"/>
              </a:endParaRPr>
            </a:p>
          </p:txBody>
        </p:sp>
        <p:sp>
          <p:nvSpPr>
            <p:cNvPr id="16" name="Text 4">
              <a:extLst>
                <a:ext uri="{FF2B5EF4-FFF2-40B4-BE49-F238E27FC236}">
                  <a16:creationId xmlns:a16="http://schemas.microsoft.com/office/drawing/2014/main" id="{28F4CABF-E260-7275-C3F6-FE9BB77BF391}"/>
                </a:ext>
              </a:extLst>
            </p:cNvPr>
            <p:cNvSpPr/>
            <p:nvPr/>
          </p:nvSpPr>
          <p:spPr>
            <a:xfrm>
              <a:off x="6321700" y="5238996"/>
              <a:ext cx="1925560" cy="302463"/>
            </a:xfrm>
            <a:prstGeom prst="rect">
              <a:avLst/>
            </a:prstGeom>
            <a:noFill/>
            <a:ln/>
          </p:spPr>
          <p:txBody>
            <a:bodyPr wrap="square" lIns="0" tIns="0" rIns="0" bIns="0" rtlCol="0" anchor="t"/>
            <a:lstStyle/>
            <a:p>
              <a:pPr marL="0" indent="0" algn="ctr">
                <a:buNone/>
              </a:pPr>
              <a:r>
                <a:rPr lang="en-US" sz="1200" dirty="0">
                  <a:solidFill>
                    <a:srgbClr val="3B3535"/>
                  </a:solidFill>
                  <a:latin typeface="Montserrat" pitchFamily="2" charset="0"/>
                  <a:ea typeface="Sora Light" pitchFamily="34" charset="-122"/>
                  <a:cs typeface="Sora Light" pitchFamily="34" charset="-120"/>
                </a:rPr>
                <a:t>Design safe, reliable Structural systems</a:t>
              </a:r>
              <a:endParaRPr lang="en-US" sz="1200" dirty="0">
                <a:latin typeface="Montserrat" pitchFamily="2" charset="0"/>
              </a:endParaRPr>
            </a:p>
          </p:txBody>
        </p:sp>
        <p:sp>
          <p:nvSpPr>
            <p:cNvPr id="17" name="Text 5">
              <a:extLst>
                <a:ext uri="{FF2B5EF4-FFF2-40B4-BE49-F238E27FC236}">
                  <a16:creationId xmlns:a16="http://schemas.microsoft.com/office/drawing/2014/main" id="{BD42D619-B698-5729-ADCE-954A9343EA0C}"/>
                </a:ext>
              </a:extLst>
            </p:cNvPr>
            <p:cNvSpPr/>
            <p:nvPr/>
          </p:nvSpPr>
          <p:spPr>
            <a:xfrm>
              <a:off x="11932648" y="4607329"/>
              <a:ext cx="2058392" cy="398032"/>
            </a:xfrm>
            <a:prstGeom prst="rect">
              <a:avLst/>
            </a:prstGeom>
            <a:noFill/>
            <a:ln/>
          </p:spPr>
          <p:txBody>
            <a:bodyPr wrap="square" lIns="0" tIns="0" rIns="0" bIns="0" rtlCol="0" anchor="t"/>
            <a:lstStyle/>
            <a:p>
              <a:pPr marL="0" indent="0" algn="ctr">
                <a:buNone/>
              </a:pPr>
              <a:r>
                <a:rPr lang="en-US" sz="1400" b="1" dirty="0">
                  <a:solidFill>
                    <a:srgbClr val="1F1E1E"/>
                  </a:solidFill>
                  <a:latin typeface="Montserrat" pitchFamily="2" charset="0"/>
                  <a:ea typeface="Sora Semi Bold" pitchFamily="34" charset="-122"/>
                  <a:cs typeface="Sora SemiBold" pitchFamily="2" charset="0"/>
                </a:rPr>
                <a:t>Functional Design</a:t>
              </a:r>
              <a:endParaRPr lang="en-US" sz="1400" b="1" dirty="0">
                <a:latin typeface="Montserrat" pitchFamily="2" charset="0"/>
                <a:cs typeface="Sora SemiBold" pitchFamily="2" charset="0"/>
              </a:endParaRPr>
            </a:p>
          </p:txBody>
        </p:sp>
        <p:sp>
          <p:nvSpPr>
            <p:cNvPr id="18" name="Text 6">
              <a:extLst>
                <a:ext uri="{FF2B5EF4-FFF2-40B4-BE49-F238E27FC236}">
                  <a16:creationId xmlns:a16="http://schemas.microsoft.com/office/drawing/2014/main" id="{D307CAA0-97DF-7856-C487-01B078E47C7D}"/>
                </a:ext>
              </a:extLst>
            </p:cNvPr>
            <p:cNvSpPr/>
            <p:nvPr/>
          </p:nvSpPr>
          <p:spPr>
            <a:xfrm>
              <a:off x="12108829" y="5238996"/>
              <a:ext cx="1841236" cy="381347"/>
            </a:xfrm>
            <a:prstGeom prst="rect">
              <a:avLst/>
            </a:prstGeom>
            <a:noFill/>
            <a:ln/>
          </p:spPr>
          <p:txBody>
            <a:bodyPr wrap="square" lIns="0" tIns="0" rIns="0" bIns="0" rtlCol="0" anchor="t"/>
            <a:lstStyle/>
            <a:p>
              <a:pPr marL="0" indent="0" algn="ctr">
                <a:buNone/>
              </a:pPr>
              <a:r>
                <a:rPr lang="en-US" sz="1200" dirty="0">
                  <a:solidFill>
                    <a:srgbClr val="3B3535"/>
                  </a:solidFill>
                  <a:latin typeface="Montserrat" pitchFamily="2" charset="0"/>
                  <a:ea typeface="Sora Light" pitchFamily="34" charset="-122"/>
                  <a:cs typeface="Sora Light" pitchFamily="34" charset="-120"/>
                </a:rPr>
                <a:t>Create spaces that meet user needs</a:t>
              </a:r>
              <a:endParaRPr lang="en-US" sz="1200" dirty="0">
                <a:latin typeface="Montserrat" pitchFamily="2" charset="0"/>
              </a:endParaRPr>
            </a:p>
          </p:txBody>
        </p:sp>
        <p:sp>
          <p:nvSpPr>
            <p:cNvPr id="19" name="Text 7">
              <a:extLst>
                <a:ext uri="{FF2B5EF4-FFF2-40B4-BE49-F238E27FC236}">
                  <a16:creationId xmlns:a16="http://schemas.microsoft.com/office/drawing/2014/main" id="{FB1C429F-1E1F-2518-38BD-E1FFB1362296}"/>
                </a:ext>
              </a:extLst>
            </p:cNvPr>
            <p:cNvSpPr/>
            <p:nvPr/>
          </p:nvSpPr>
          <p:spPr>
            <a:xfrm>
              <a:off x="6412348" y="6559252"/>
              <a:ext cx="1624080" cy="398032"/>
            </a:xfrm>
            <a:prstGeom prst="rect">
              <a:avLst/>
            </a:prstGeom>
            <a:noFill/>
            <a:ln/>
          </p:spPr>
          <p:txBody>
            <a:bodyPr wrap="square" lIns="0" tIns="0" rIns="0" bIns="0" rtlCol="0" anchor="t"/>
            <a:lstStyle/>
            <a:p>
              <a:pPr marL="0" indent="0" algn="ctr">
                <a:buNone/>
              </a:pPr>
              <a:r>
                <a:rPr lang="en-US" sz="1400" b="1" dirty="0">
                  <a:solidFill>
                    <a:srgbClr val="1F1E1E"/>
                  </a:solidFill>
                  <a:latin typeface="Montserrat" pitchFamily="2" charset="0"/>
                  <a:ea typeface="Sora Semi Bold" pitchFamily="34" charset="-122"/>
                  <a:cs typeface="Sora SemiBold" pitchFamily="2" charset="0"/>
                </a:rPr>
                <a:t>Technical Expertise</a:t>
              </a:r>
              <a:endParaRPr lang="en-US" sz="1400" b="1" dirty="0">
                <a:latin typeface="Montserrat" pitchFamily="2" charset="0"/>
                <a:cs typeface="Sora SemiBold" pitchFamily="2" charset="0"/>
              </a:endParaRPr>
            </a:p>
          </p:txBody>
        </p:sp>
        <p:sp>
          <p:nvSpPr>
            <p:cNvPr id="20" name="Text 8">
              <a:extLst>
                <a:ext uri="{FF2B5EF4-FFF2-40B4-BE49-F238E27FC236}">
                  <a16:creationId xmlns:a16="http://schemas.microsoft.com/office/drawing/2014/main" id="{647DD165-0623-3D6A-2151-BDE4A21D65D2}"/>
                </a:ext>
              </a:extLst>
            </p:cNvPr>
            <p:cNvSpPr/>
            <p:nvPr/>
          </p:nvSpPr>
          <p:spPr>
            <a:xfrm>
              <a:off x="6352420" y="7270766"/>
              <a:ext cx="1925560" cy="453693"/>
            </a:xfrm>
            <a:prstGeom prst="rect">
              <a:avLst/>
            </a:prstGeom>
            <a:noFill/>
            <a:ln/>
          </p:spPr>
          <p:txBody>
            <a:bodyPr wrap="square" lIns="0" tIns="0" rIns="0" bIns="0" rtlCol="0" anchor="t"/>
            <a:lstStyle/>
            <a:p>
              <a:pPr marL="0" indent="0" algn="ctr">
                <a:buNone/>
              </a:pPr>
              <a:r>
                <a:rPr lang="en-US" sz="1200" dirty="0">
                  <a:solidFill>
                    <a:srgbClr val="3B3535"/>
                  </a:solidFill>
                  <a:latin typeface="Montserrat" pitchFamily="2" charset="0"/>
                  <a:ea typeface="Sora Light" pitchFamily="34" charset="-122"/>
                  <a:cs typeface="Sora Light" pitchFamily="34" charset="-120"/>
                </a:rPr>
                <a:t>Apply engineering principles and best practices</a:t>
              </a:r>
              <a:endParaRPr lang="en-US" sz="1200" dirty="0">
                <a:latin typeface="Montserrat" pitchFamily="2" charset="0"/>
              </a:endParaRPr>
            </a:p>
          </p:txBody>
        </p:sp>
        <p:sp>
          <p:nvSpPr>
            <p:cNvPr id="21" name="Text 9">
              <a:extLst>
                <a:ext uri="{FF2B5EF4-FFF2-40B4-BE49-F238E27FC236}">
                  <a16:creationId xmlns:a16="http://schemas.microsoft.com/office/drawing/2014/main" id="{4046B0B5-32EE-AA6A-F8CB-B2611D3F26C7}"/>
                </a:ext>
              </a:extLst>
            </p:cNvPr>
            <p:cNvSpPr/>
            <p:nvPr/>
          </p:nvSpPr>
          <p:spPr>
            <a:xfrm>
              <a:off x="12217406" y="6570271"/>
              <a:ext cx="1624081" cy="398032"/>
            </a:xfrm>
            <a:prstGeom prst="rect">
              <a:avLst/>
            </a:prstGeom>
            <a:noFill/>
            <a:ln/>
          </p:spPr>
          <p:txBody>
            <a:bodyPr wrap="square" lIns="0" tIns="0" rIns="0" bIns="0" rtlCol="0" anchor="t"/>
            <a:lstStyle/>
            <a:p>
              <a:pPr marL="0" indent="0" algn="ctr">
                <a:buNone/>
              </a:pPr>
              <a:r>
                <a:rPr lang="en-US" sz="1400" b="1" dirty="0">
                  <a:solidFill>
                    <a:srgbClr val="1F1E1E"/>
                  </a:solidFill>
                  <a:latin typeface="Montserrat" pitchFamily="2" charset="0"/>
                  <a:ea typeface="Sora Semi Bold" pitchFamily="34" charset="-122"/>
                  <a:cs typeface="Sora SemiBold" pitchFamily="2" charset="0"/>
                </a:rPr>
                <a:t>Collaborative Insight</a:t>
              </a:r>
              <a:endParaRPr lang="en-US" sz="1400" b="1" dirty="0">
                <a:latin typeface="Montserrat" pitchFamily="2" charset="0"/>
                <a:cs typeface="Sora SemiBold" pitchFamily="2" charset="0"/>
              </a:endParaRPr>
            </a:p>
          </p:txBody>
        </p:sp>
        <p:sp>
          <p:nvSpPr>
            <p:cNvPr id="22" name="Text 10">
              <a:extLst>
                <a:ext uri="{FF2B5EF4-FFF2-40B4-BE49-F238E27FC236}">
                  <a16:creationId xmlns:a16="http://schemas.microsoft.com/office/drawing/2014/main" id="{A32A07B6-4FEF-41CF-BA66-6D3102073091}"/>
                </a:ext>
              </a:extLst>
            </p:cNvPr>
            <p:cNvSpPr/>
            <p:nvPr/>
          </p:nvSpPr>
          <p:spPr>
            <a:xfrm>
              <a:off x="12108829" y="7270766"/>
              <a:ext cx="1976442" cy="302463"/>
            </a:xfrm>
            <a:prstGeom prst="rect">
              <a:avLst/>
            </a:prstGeom>
            <a:noFill/>
            <a:ln/>
          </p:spPr>
          <p:txBody>
            <a:bodyPr wrap="square" lIns="0" tIns="0" rIns="0" bIns="0" rtlCol="0" anchor="t"/>
            <a:lstStyle/>
            <a:p>
              <a:pPr marL="0" indent="0" algn="ctr">
                <a:buNone/>
              </a:pPr>
              <a:r>
                <a:rPr lang="en-US" sz="1200" dirty="0">
                  <a:solidFill>
                    <a:srgbClr val="3B3535"/>
                  </a:solidFill>
                  <a:latin typeface="Montserrat" pitchFamily="2" charset="0"/>
                  <a:ea typeface="Sora Light" pitchFamily="34" charset="-122"/>
                  <a:cs typeface="Sora Light" pitchFamily="34" charset="-120"/>
                </a:rPr>
                <a:t>Integrate architecture and practical feedback</a:t>
              </a:r>
              <a:endParaRPr lang="en-US" sz="1200" dirty="0">
                <a:latin typeface="Montserrat" pitchFamily="2" charset="0"/>
              </a:endParaRPr>
            </a:p>
          </p:txBody>
        </p:sp>
      </p:grpSp>
      <p:sp>
        <p:nvSpPr>
          <p:cNvPr id="24" name="Text 1">
            <a:extLst>
              <a:ext uri="{FF2B5EF4-FFF2-40B4-BE49-F238E27FC236}">
                <a16:creationId xmlns:a16="http://schemas.microsoft.com/office/drawing/2014/main" id="{CB0353C5-6601-3042-448D-C22AA741CDAC}"/>
              </a:ext>
            </a:extLst>
          </p:cNvPr>
          <p:cNvSpPr/>
          <p:nvPr/>
        </p:nvSpPr>
        <p:spPr>
          <a:xfrm>
            <a:off x="298710" y="599502"/>
            <a:ext cx="5936933" cy="463272"/>
          </a:xfrm>
          <a:prstGeom prst="rect">
            <a:avLst/>
          </a:prstGeom>
          <a:noFill/>
          <a:ln/>
        </p:spPr>
        <p:txBody>
          <a:bodyPr wrap="none" lIns="0" tIns="0" rIns="0" bIns="0" rtlCol="0" anchor="t"/>
          <a:lstStyle/>
          <a:p>
            <a:pPr marL="0" indent="0" algn="l">
              <a:lnSpc>
                <a:spcPts val="3600"/>
              </a:lnSpc>
              <a:buNone/>
            </a:pPr>
            <a:r>
              <a:rPr lang="en-US" sz="2400" b="1" dirty="0">
                <a:solidFill>
                  <a:srgbClr val="1F1E1E"/>
                </a:solidFill>
                <a:latin typeface="Montserrat" pitchFamily="2" charset="0"/>
                <a:ea typeface="Sora Semi Bold" pitchFamily="34" charset="-122"/>
                <a:cs typeface="Sora SemiBold" pitchFamily="2" charset="0"/>
              </a:rPr>
              <a:t>SHAPING FORM DEFINING FUTURE</a:t>
            </a:r>
            <a:endParaRPr lang="en-US" sz="2400" b="1" dirty="0">
              <a:latin typeface="Montserrat" pitchFamily="2" charset="0"/>
              <a:cs typeface="Sora SemiBold" pitchFamily="2" charset="0"/>
            </a:endParaRPr>
          </a:p>
        </p:txBody>
      </p:sp>
    </p:spTree>
    <p:extLst>
      <p:ext uri="{BB962C8B-B14F-4D97-AF65-F5344CB8AC3E}">
        <p14:creationId xmlns:p14="http://schemas.microsoft.com/office/powerpoint/2010/main" val="2153121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07B186-9D67-2CB1-63B1-1A333A7BE13D}"/>
              </a:ext>
            </a:extLst>
          </p:cNvPr>
          <p:cNvPicPr>
            <a:picLocks noChangeAspect="1"/>
          </p:cNvPicPr>
          <p:nvPr/>
        </p:nvPicPr>
        <p:blipFill>
          <a:blip r:embed="rId2"/>
          <a:stretch>
            <a:fillRect/>
          </a:stretch>
        </p:blipFill>
        <p:spPr>
          <a:xfrm>
            <a:off x="1187414" y="1754132"/>
            <a:ext cx="9197484" cy="2985015"/>
          </a:xfrm>
          <a:prstGeom prst="rect">
            <a:avLst/>
          </a:prstGeom>
        </p:spPr>
      </p:pic>
    </p:spTree>
    <p:extLst>
      <p:ext uri="{BB962C8B-B14F-4D97-AF65-F5344CB8AC3E}">
        <p14:creationId xmlns:p14="http://schemas.microsoft.com/office/powerpoint/2010/main" val="345693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F01C3E-9040-CFD2-FA62-1FC3F71AA8CA}"/>
              </a:ext>
            </a:extLst>
          </p:cNvPr>
          <p:cNvPicPr>
            <a:picLocks noChangeAspect="1"/>
          </p:cNvPicPr>
          <p:nvPr/>
        </p:nvPicPr>
        <p:blipFill>
          <a:blip r:embed="rId2"/>
          <a:stretch>
            <a:fillRect/>
          </a:stretch>
        </p:blipFill>
        <p:spPr>
          <a:xfrm>
            <a:off x="1390231" y="1588347"/>
            <a:ext cx="9655377" cy="2987299"/>
          </a:xfrm>
          <a:prstGeom prst="rect">
            <a:avLst/>
          </a:prstGeom>
        </p:spPr>
      </p:pic>
      <p:cxnSp>
        <p:nvCxnSpPr>
          <p:cNvPr id="4" name="Straight Arrow Connector 3">
            <a:extLst>
              <a:ext uri="{FF2B5EF4-FFF2-40B4-BE49-F238E27FC236}">
                <a16:creationId xmlns:a16="http://schemas.microsoft.com/office/drawing/2014/main" id="{08A51566-3073-B951-AC97-6A83F032FE92}"/>
              </a:ext>
            </a:extLst>
          </p:cNvPr>
          <p:cNvCxnSpPr/>
          <p:nvPr/>
        </p:nvCxnSpPr>
        <p:spPr>
          <a:xfrm>
            <a:off x="2487561" y="1750142"/>
            <a:ext cx="462116" cy="609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F93D87C8-E878-589B-D898-63EAF3BBF565}"/>
              </a:ext>
            </a:extLst>
          </p:cNvPr>
          <p:cNvCxnSpPr/>
          <p:nvPr/>
        </p:nvCxnSpPr>
        <p:spPr>
          <a:xfrm>
            <a:off x="10339653" y="1750142"/>
            <a:ext cx="462116" cy="609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028A00E-A7FB-1A17-F60D-22B4FE6266BF}"/>
              </a:ext>
            </a:extLst>
          </p:cNvPr>
          <p:cNvSpPr txBox="1"/>
          <p:nvPr/>
        </p:nvSpPr>
        <p:spPr>
          <a:xfrm>
            <a:off x="2113935" y="1386348"/>
            <a:ext cx="1868130" cy="369332"/>
          </a:xfrm>
          <a:prstGeom prst="rect">
            <a:avLst/>
          </a:prstGeom>
          <a:noFill/>
        </p:spPr>
        <p:txBody>
          <a:bodyPr wrap="square" rtlCol="0">
            <a:spAutoFit/>
          </a:bodyPr>
          <a:lstStyle/>
          <a:p>
            <a:r>
              <a:rPr lang="en-US" dirty="0"/>
              <a:t>Architecture </a:t>
            </a:r>
            <a:endParaRPr lang="en-IN" dirty="0"/>
          </a:p>
        </p:txBody>
      </p:sp>
      <p:sp>
        <p:nvSpPr>
          <p:cNvPr id="8" name="TextBox 7">
            <a:extLst>
              <a:ext uri="{FF2B5EF4-FFF2-40B4-BE49-F238E27FC236}">
                <a16:creationId xmlns:a16="http://schemas.microsoft.com/office/drawing/2014/main" id="{5F841D83-B4D9-4B22-67C5-0F6DAD54AC67}"/>
              </a:ext>
            </a:extLst>
          </p:cNvPr>
          <p:cNvSpPr txBox="1"/>
          <p:nvPr/>
        </p:nvSpPr>
        <p:spPr>
          <a:xfrm>
            <a:off x="9636646" y="1403681"/>
            <a:ext cx="1868130" cy="369332"/>
          </a:xfrm>
          <a:prstGeom prst="rect">
            <a:avLst/>
          </a:prstGeom>
          <a:noFill/>
        </p:spPr>
        <p:txBody>
          <a:bodyPr wrap="square" rtlCol="0">
            <a:spAutoFit/>
          </a:bodyPr>
          <a:lstStyle/>
          <a:p>
            <a:r>
              <a:rPr lang="en-US" dirty="0"/>
              <a:t>Infrastructure </a:t>
            </a:r>
            <a:endParaRPr lang="en-IN" dirty="0"/>
          </a:p>
        </p:txBody>
      </p:sp>
    </p:spTree>
    <p:extLst>
      <p:ext uri="{BB962C8B-B14F-4D97-AF65-F5344CB8AC3E}">
        <p14:creationId xmlns:p14="http://schemas.microsoft.com/office/powerpoint/2010/main" val="910017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0325F6-42AB-8EC8-2585-F8C5D490772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DE3424-85F5-12BC-F728-4E2AB8A38DAC}"/>
              </a:ext>
            </a:extLst>
          </p:cNvPr>
          <p:cNvPicPr>
            <a:picLocks noChangeAspect="1"/>
          </p:cNvPicPr>
          <p:nvPr/>
        </p:nvPicPr>
        <p:blipFill>
          <a:blip r:embed="rId2"/>
          <a:stretch>
            <a:fillRect/>
          </a:stretch>
        </p:blipFill>
        <p:spPr>
          <a:xfrm>
            <a:off x="643467" y="1016253"/>
            <a:ext cx="10905066" cy="4825492"/>
          </a:xfrm>
          <a:prstGeom prst="rect">
            <a:avLst/>
          </a:prstGeom>
        </p:spPr>
      </p:pic>
    </p:spTree>
    <p:extLst>
      <p:ext uri="{BB962C8B-B14F-4D97-AF65-F5344CB8AC3E}">
        <p14:creationId xmlns:p14="http://schemas.microsoft.com/office/powerpoint/2010/main" val="2278516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4F2F-23FD-C332-AB01-31DE839BE81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1899BE-5046-7BF4-935E-E36B7E383716}"/>
              </a:ext>
            </a:extLst>
          </p:cNvPr>
          <p:cNvPicPr>
            <a:picLocks noChangeAspect="1"/>
          </p:cNvPicPr>
          <p:nvPr/>
        </p:nvPicPr>
        <p:blipFill>
          <a:blip r:embed="rId2"/>
          <a:stretch>
            <a:fillRect/>
          </a:stretch>
        </p:blipFill>
        <p:spPr>
          <a:xfrm>
            <a:off x="753866" y="2234515"/>
            <a:ext cx="10684268" cy="2136854"/>
          </a:xfrm>
          <a:prstGeom prst="rect">
            <a:avLst/>
          </a:prstGeom>
        </p:spPr>
      </p:pic>
      <p:cxnSp>
        <p:nvCxnSpPr>
          <p:cNvPr id="4" name="Straight Arrow Connector 3">
            <a:extLst>
              <a:ext uri="{FF2B5EF4-FFF2-40B4-BE49-F238E27FC236}">
                <a16:creationId xmlns:a16="http://schemas.microsoft.com/office/drawing/2014/main" id="{1FB7C4CE-1E24-E663-616D-6221DA12AED7}"/>
              </a:ext>
            </a:extLst>
          </p:cNvPr>
          <p:cNvCxnSpPr/>
          <p:nvPr/>
        </p:nvCxnSpPr>
        <p:spPr>
          <a:xfrm>
            <a:off x="10557297" y="2264341"/>
            <a:ext cx="353961" cy="383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D0340482-3898-AE1E-D483-370E43BCC0AD}"/>
              </a:ext>
            </a:extLst>
          </p:cNvPr>
          <p:cNvSpPr/>
          <p:nvPr/>
        </p:nvSpPr>
        <p:spPr>
          <a:xfrm>
            <a:off x="10881762" y="2647799"/>
            <a:ext cx="1112744" cy="6361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Consultant </a:t>
            </a:r>
            <a:endParaRPr lang="en-IN" sz="1400" dirty="0"/>
          </a:p>
        </p:txBody>
      </p:sp>
    </p:spTree>
    <p:extLst>
      <p:ext uri="{BB962C8B-B14F-4D97-AF65-F5344CB8AC3E}">
        <p14:creationId xmlns:p14="http://schemas.microsoft.com/office/powerpoint/2010/main" val="424872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0CD157-3C38-B887-D812-0F2E9B8AB22C}"/>
              </a:ext>
            </a:extLst>
          </p:cNvPr>
          <p:cNvPicPr>
            <a:picLocks noChangeAspect="1"/>
          </p:cNvPicPr>
          <p:nvPr/>
        </p:nvPicPr>
        <p:blipFill>
          <a:blip r:embed="rId2"/>
          <a:stretch>
            <a:fillRect/>
          </a:stretch>
        </p:blipFill>
        <p:spPr>
          <a:xfrm>
            <a:off x="98323" y="1238865"/>
            <a:ext cx="12192000" cy="5560584"/>
          </a:xfrm>
          <a:prstGeom prst="rect">
            <a:avLst/>
          </a:prstGeom>
        </p:spPr>
      </p:pic>
      <p:cxnSp>
        <p:nvCxnSpPr>
          <p:cNvPr id="5" name="Straight Connector 4">
            <a:extLst>
              <a:ext uri="{FF2B5EF4-FFF2-40B4-BE49-F238E27FC236}">
                <a16:creationId xmlns:a16="http://schemas.microsoft.com/office/drawing/2014/main" id="{737B3C4B-1377-D8CE-9763-A6FFE7167813}"/>
              </a:ext>
            </a:extLst>
          </p:cNvPr>
          <p:cNvCxnSpPr/>
          <p:nvPr/>
        </p:nvCxnSpPr>
        <p:spPr>
          <a:xfrm>
            <a:off x="5525729" y="1799304"/>
            <a:ext cx="668594" cy="1474838"/>
          </a:xfrm>
          <a:prstGeom prst="line">
            <a:avLst/>
          </a:prstGeom>
        </p:spPr>
        <p:style>
          <a:lnRef idx="3">
            <a:schemeClr val="accent2"/>
          </a:lnRef>
          <a:fillRef idx="0">
            <a:schemeClr val="accent2"/>
          </a:fillRef>
          <a:effectRef idx="2">
            <a:schemeClr val="accent2"/>
          </a:effectRef>
          <a:fontRef idx="minor">
            <a:schemeClr val="tx1"/>
          </a:fontRef>
        </p:style>
      </p:cxnSp>
      <p:sp>
        <p:nvSpPr>
          <p:cNvPr id="6" name="Rectangle 5">
            <a:extLst>
              <a:ext uri="{FF2B5EF4-FFF2-40B4-BE49-F238E27FC236}">
                <a16:creationId xmlns:a16="http://schemas.microsoft.com/office/drawing/2014/main" id="{0B6E64F2-2178-C732-0F60-2C49F0D946E9}"/>
              </a:ext>
            </a:extLst>
          </p:cNvPr>
          <p:cNvSpPr/>
          <p:nvPr/>
        </p:nvSpPr>
        <p:spPr>
          <a:xfrm>
            <a:off x="11484077" y="6012425"/>
            <a:ext cx="766916" cy="71306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F0316C7-E505-FE95-8268-50E895E9F482}"/>
              </a:ext>
            </a:extLst>
          </p:cNvPr>
          <p:cNvSpPr txBox="1"/>
          <p:nvPr/>
        </p:nvSpPr>
        <p:spPr>
          <a:xfrm>
            <a:off x="10805652" y="5295969"/>
            <a:ext cx="1700980" cy="646331"/>
          </a:xfrm>
          <a:prstGeom prst="rect">
            <a:avLst/>
          </a:prstGeom>
          <a:noFill/>
        </p:spPr>
        <p:txBody>
          <a:bodyPr wrap="square" rtlCol="0">
            <a:spAutoFit/>
          </a:bodyPr>
          <a:lstStyle/>
          <a:p>
            <a:r>
              <a:rPr lang="en-IN" dirty="0">
                <a:solidFill>
                  <a:srgbClr val="FFC000"/>
                </a:solidFill>
              </a:rPr>
              <a:t>WHATSAPP LOGO</a:t>
            </a:r>
          </a:p>
        </p:txBody>
      </p:sp>
      <p:sp>
        <p:nvSpPr>
          <p:cNvPr id="11" name="TextBox 10">
            <a:extLst>
              <a:ext uri="{FF2B5EF4-FFF2-40B4-BE49-F238E27FC236}">
                <a16:creationId xmlns:a16="http://schemas.microsoft.com/office/drawing/2014/main" id="{B4A04253-3AF2-C0CE-F154-44EBD327DA56}"/>
              </a:ext>
            </a:extLst>
          </p:cNvPr>
          <p:cNvSpPr txBox="1"/>
          <p:nvPr/>
        </p:nvSpPr>
        <p:spPr>
          <a:xfrm>
            <a:off x="7000566" y="546368"/>
            <a:ext cx="4483511" cy="738664"/>
          </a:xfrm>
          <a:prstGeom prst="rect">
            <a:avLst/>
          </a:prstGeom>
          <a:noFill/>
        </p:spPr>
        <p:txBody>
          <a:bodyPr wrap="square" rtlCol="0">
            <a:spAutoFit/>
          </a:bodyPr>
          <a:lstStyle/>
          <a:p>
            <a:r>
              <a:rPr lang="en-IN" sz="1400" dirty="0"/>
              <a:t>FOR MORE INFORMATION ABOUT OUR PROJECTS PLEASE DOWNLOAD OUR BROCHURE FROM LINK BELOW </a:t>
            </a:r>
          </a:p>
        </p:txBody>
      </p:sp>
    </p:spTree>
    <p:extLst>
      <p:ext uri="{BB962C8B-B14F-4D97-AF65-F5344CB8AC3E}">
        <p14:creationId xmlns:p14="http://schemas.microsoft.com/office/powerpoint/2010/main" val="3395627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122</Words>
  <Application>Microsoft Office PowerPoint</Application>
  <PresentationFormat>Widescreen</PresentationFormat>
  <Paragraphs>18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HIREN SHAH</dc:creator>
  <cp:lastModifiedBy>FormX Consultants</cp:lastModifiedBy>
  <cp:revision>2</cp:revision>
  <dcterms:created xsi:type="dcterms:W3CDTF">2026-08-08T06:13:43Z</dcterms:created>
  <dcterms:modified xsi:type="dcterms:W3CDTF">2026-08-08T06:52:28Z</dcterms:modified>
</cp:coreProperties>
</file>